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Exploratory SQL Analysis of the Movie Industry (2010–2019)</a:t>
            </a:r>
          </a:p>
          <a:p>
            <a:br/>
            <a:pPr>
              <a:defRPr sz="2000">
                <a:solidFill>
                  <a:srgbClr val="93C5FD"/>
                </a:solidFill>
              </a:defRPr>
            </a:pPr>
            <a:r>
              <a:t>Uncovering Genre Performance, Audience Engagement, and Data Quality Insights from IMDb</a:t>
            </a:r>
          </a:p>
          <a:p>
            <a:br/>
            <a:br/>
            <a:pPr>
              <a:defRPr sz="1600">
                <a:solidFill>
                  <a:srgbClr val="CBD5E1"/>
                </a:solidFill>
              </a:defRPr>
            </a:pPr>
            <a:r>
              <a:t>SQL Summative Lab — Part 2 Exploratory Analysis</a:t>
            </a:r>
            <a:br/>
            <a:r>
              <a:t>Presenter: Elias Jefwa Mweri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Deliverable 1: Initial Data Exploration Findings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Database Scope, Baseline Metrics, and Production Trends (2010–2019)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6060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65,720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t>Valid Rated Movies</a:t>
            </a:r>
            <a:br/>
            <a:r>
              <a:t>(2010–2019, Non-Null)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371600"/>
            <a:ext cx="26060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94.7 mins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t>Average Feature</a:t>
            </a:r>
            <a:br/>
            <a:r>
              <a:t>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26060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6.32 / 10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t>Overall Average</a:t>
            </a:r>
            <a:br/>
            <a:r>
              <a:t>IMDb User 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371600"/>
            <a:ext cx="2606040" cy="13258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3,955</a:t>
            </a:r>
          </a:p>
          <a:p>
            <a:pPr algn="ctr">
              <a:defRPr sz="1300">
                <a:solidFill>
                  <a:srgbClr val="334155"/>
                </a:solidFill>
              </a:defRPr>
            </a:pPr>
            <a:r>
              <a:t>Average Audience</a:t>
            </a:r>
            <a:br/>
            <a:r>
              <a:t>Votes per Movie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</a:rPr>
              <a:t>• Strict Scope &amp; Null Filtering: </a:t>
            </a:r>
            <a:r>
              <a:rPr sz="1800">
                <a:solidFill>
                  <a:srgbClr val="334155"/>
                </a:solidFill>
              </a:rPr>
              <a:t>Queried movie_basics joined with movie_ratings. Excluded all records with start_year &gt; 2019 and filtered out NULL values across runtime_minutes, genres, averagerating, and numvotes.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</a:rPr>
              <a:t>• 33% Surge in Annual Output: </a:t>
            </a:r>
            <a:r>
              <a:rPr sz="1800">
                <a:solidFill>
                  <a:srgbClr val="334155"/>
                </a:solidFill>
              </a:rPr>
              <a:t>Annual rated movie releases grew steadily from 5,654 films in 2010 to a peak of 7,518 films in 2017 before slightly tapering in 2018–2019.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</a:rPr>
              <a:t>• Rating Stability Across the Decade: </a:t>
            </a:r>
            <a:r>
              <a:rPr sz="1800">
                <a:solidFill>
                  <a:srgbClr val="334155"/>
                </a:solidFill>
              </a:rPr>
              <a:t>Despite rapid growth in total movie volume, average audience ratings remained highly stable between 6.26 and 6.40 across every year from 2010 to 2019.</a:t>
            </a:r>
          </a:p>
          <a:p>
            <a:pPr>
              <a:spcAft>
                <a:spcPts val="1400"/>
              </a:spcAft>
            </a:pPr>
            <a:r>
              <a:rPr b="1" sz="1800">
                <a:solidFill>
                  <a:srgbClr val="0F172A"/>
                </a:solidFill>
              </a:rPr>
              <a:t>• Skewed Audience Engagement: </a:t>
            </a:r>
            <a:r>
              <a:rPr sz="1800">
                <a:solidFill>
                  <a:srgbClr val="334155"/>
                </a:solidFill>
              </a:rPr>
              <a:t>While the average film receives 3,955 votes, engagement is heavily concentrated in mainstream genre combinations (Action, Sci-Fi, Animation, and Biography/Drama).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Deliverable 2: Business Question &amp; Visual Analysis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Identifying High-Engagement &amp; Critically Acclaimed Genre Combinations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277295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b="1" sz="1500">
                <a:solidFill>
                  <a:srgbClr val="2563EB"/>
                </a:solidFill>
              </a:rPr>
              <a:t>Business Question: </a:t>
            </a:r>
            <a:r>
              <a:rPr sz="1500">
                <a:solidFill>
                  <a:srgbClr val="0F172A"/>
                </a:solidFill>
              </a:rPr>
              <a:t>Among mainstream movies (≥ 1,000 votes, 2010–2019), which genre combinations deliver the strongest combination of audience engagement (average votes) and critical reception (average rating), and what runtime should studios target?</a:t>
            </a:r>
          </a:p>
        </p:txBody>
      </p:sp>
      <p:pic>
        <p:nvPicPr>
          <p:cNvPr id="4" name="Picture 3" descr="imdb_genre_engage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7040880" cy="3661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35240" y="2194560"/>
            <a:ext cx="4114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▪ Blockbuster Reach Leaders:
</a:t>
            </a:r>
            <a:r>
              <a:rPr sz="1300">
                <a:solidFill>
                  <a:srgbClr val="334155"/>
                </a:solidFill>
              </a:rPr>
              <a:t>Action, Adventure, Sci-Fi leads with 230,735 avg votes and a 6.47 rating (120m runtime), followed by Action, Adventure, Fantasy (145,595 avg votes).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▪ Family &amp; Animation Power:
</a:t>
            </a:r>
            <a:r>
              <a:rPr sz="1300">
                <a:solidFill>
                  <a:srgbClr val="334155"/>
                </a:solidFill>
              </a:rPr>
              <a:t>Adventure, Animation, Comedy ranks #3 in engagement (76,447 avg votes) with a strong 6.50 rating and compact 95m runtime.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▪ Prestige / High-Rating Sweet Spot:
</a:t>
            </a:r>
            <a:r>
              <a:rPr sz="1300">
                <a:solidFill>
                  <a:srgbClr val="334155"/>
                </a:solidFill>
              </a:rPr>
              <a:t>Biography, Drama, History (7.02 rating, 60.7K votes) and Biography, Comedy, Drama (6.97 rating, 66.6K votes) achieve the highest critical acclaim.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0F172A"/>
                </a:solidFill>
              </a:rPr>
              <a:t>▪ Studio Recommendation:
</a:t>
            </a:r>
            <a:r>
              <a:rPr sz="1300">
                <a:solidFill>
                  <a:srgbClr val="334155"/>
                </a:solidFill>
              </a:rPr>
              <a:t>Greenlight Action/Sci-Fi or Animation for maximum commercial reach; pair with ~115–120m Biography/Drama films for high-rating prestige slates.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Deliverable 3: Potential Data Cleaning Tasks Identified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Data Quality Issues &amp; Normalization Steps Required for Deeper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</a:pPr>
            <a:r>
              <a:rPr b="1" sz="1700">
                <a:solidFill>
                  <a:srgbClr val="0F172A"/>
                </a:solidFill>
              </a:rPr>
              <a:t>1. Excluding Missing (NULL) Values Without Imputation: </a:t>
            </a:r>
            <a:r>
              <a:rPr sz="1600">
                <a:solidFill>
                  <a:srgbClr val="334155"/>
                </a:solidFill>
              </a:rPr>
              <a:t>Out of 146,144 total rows in movie_basics, 31,739 records (21.7%) are missing runtime_minutes, 5,408 (3.7%) are missing genres, and &gt;72,000 have no ratings in movie_ratings. These must be filtered out using IS NOT NULL rather than imputed.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F172A"/>
                </a:solidFill>
              </a:rPr>
              <a:t>2. Removing Unverified Future Release Years (start_year &gt; 2019): </a:t>
            </a:r>
            <a:r>
              <a:rPr sz="1600">
                <a:solidFill>
                  <a:srgbClr val="334155"/>
                </a:solidFill>
              </a:rPr>
              <a:t>Identified 1,170 records with start_year &gt; 2019 (extending up to year 2115). Filtering strictly to BETWEEN 2010 AND 2019 prevents placeholder entries from skewing trend analyses.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F172A"/>
                </a:solidFill>
              </a:rPr>
              <a:t>3. Normalizing Multi-Valued Genre Strings (1NF Standardization): </a:t>
            </a:r>
            <a:r>
              <a:rPr sz="1600">
                <a:solidFill>
                  <a:srgbClr val="334155"/>
                </a:solidFill>
              </a:rPr>
              <a:t>The genres column concatenates up to 3 genres in comma-separated strings (e.g., 'Action,Adventure,Sci-Fi'), creating 1,085 distinct combinations across 64,296 multi-genre films. Deeper analysis requires splitting and exploding genres into atomic rows.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F172A"/>
                </a:solidFill>
              </a:rPr>
              <a:t>4. Trimming Extreme Runtime Outliers: </a:t>
            </a:r>
            <a:r>
              <a:rPr sz="1600">
                <a:solidFill>
                  <a:srgbClr val="334155"/>
                </a:solidFill>
              </a:rPr>
              <a:t>Runtimes span from 1 minute (short films) to 51,420 minutes (~35.7 days). Feature film models should bound runtime_minutes between 40 and 240 minutes to eliminate extreme outliers.</a:t>
            </a:r>
          </a:p>
          <a:p>
            <a:pPr>
              <a:spcAft>
                <a:spcPts val="1400"/>
              </a:spcAft>
            </a:pPr>
            <a:r>
              <a:rPr b="1" sz="1700">
                <a:solidFill>
                  <a:srgbClr val="0F172A"/>
                </a:solidFill>
              </a:rPr>
              <a:t>5. Deduplicating Regional Titles (movie_akas Fan-Out): </a:t>
            </a:r>
            <a:r>
              <a:rPr sz="1600">
                <a:solidFill>
                  <a:srgbClr val="334155"/>
                </a:solidFill>
              </a:rPr>
              <a:t>In movie_akas, a single movie_id maps to multiple regional/language rows. Joining movie_akas without filtering to a single region (e.g., region = 'US') or deduplicating causes row fan-out and inflated aggregates.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